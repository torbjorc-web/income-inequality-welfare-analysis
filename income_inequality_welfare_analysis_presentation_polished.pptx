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/>
            </a:pPr>
            <a:r>
              <a:t>Income Inequality, Poverty and Welfare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Norway • USA • Philippines</a:t>
            </a:r>
          </a:p>
          <a:p>
            <a:pPr algn="ctr">
              <a:defRPr sz="2000">
                <a:latin typeface="Aptos"/>
              </a:defRPr>
            </a:pPr>
            <a:r>
              <a:t>Portfolio presentation</a:t>
            </a:r>
          </a:p>
          <a:p>
            <a:pPr algn="ctr">
              <a:defRPr sz="2000">
                <a:latin typeface="Aptos"/>
              </a:defRPr>
            </a:pPr>
            <a:r>
              <a:t>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How do income inequality, poverty, and public services differ across Norway, the United States, and the Philippines?</a:t>
            </a:r>
          </a:p>
          <a:p>
            <a:pPr>
              <a:defRPr sz="2200">
                <a:latin typeface="Aptos"/>
              </a:defRPr>
            </a:pPr>
            <a:r>
              <a:t>What does the data say about welfare, redistribution, and living conditions?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Statistics Norway (SSB)</a:t>
            </a:r>
          </a:p>
          <a:p>
            <a:pPr>
              <a:defRPr sz="2200">
                <a:latin typeface="Aptos"/>
              </a:defRPr>
            </a:pPr>
            <a:r>
              <a:t>U.S. Census Bureau</a:t>
            </a:r>
          </a:p>
          <a:p>
            <a:pPr>
              <a:defRPr sz="2200">
                <a:latin typeface="Aptos"/>
              </a:defRPr>
            </a:pPr>
            <a:r>
              <a:t>Philippine Statistics Authority (PSA)</a:t>
            </a:r>
          </a:p>
          <a:p>
            <a:pPr>
              <a:defRPr sz="2200">
                <a:latin typeface="Aptos"/>
              </a:defRPr>
            </a:pPr>
            <a:r>
              <a:t>Supporting research on inequality and public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CSV files were loaded into SQLite.</a:t>
            </a:r>
          </a:p>
          <a:p>
            <a:pPr>
              <a:defRPr sz="2200">
                <a:latin typeface="Aptos"/>
              </a:defRPr>
            </a:pPr>
            <a:r>
              <a:t>Data was cleaned and analyzed with pandas.</a:t>
            </a:r>
          </a:p>
          <a:p>
            <a:pPr>
              <a:defRPr sz="2200">
                <a:latin typeface="Aptos"/>
              </a:defRPr>
            </a:pPr>
            <a:r>
              <a:t>Trends and comparisons were prepared for presentation.</a:t>
            </a:r>
          </a:p>
          <a:p>
            <a:pPr>
              <a:defRPr sz="2200">
                <a:latin typeface="Aptos"/>
              </a:defRPr>
            </a:pPr>
            <a:r>
              <a:t>Equivalence scales and public services were also reviewed.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Norway: Trend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Gini coefficient rose from 0.229 in 2001 to 0.256 in 2024.</a:t>
            </a:r>
          </a:p>
          <a:p>
            <a:pPr>
              <a:defRPr sz="2200">
                <a:latin typeface="Aptos"/>
              </a:defRPr>
            </a:pPr>
            <a:r>
              <a:t>This suggests a slow but visible rise in inequality.</a:t>
            </a:r>
          </a:p>
          <a:p>
            <a:pPr>
              <a:defRPr sz="2200">
                <a:latin typeface="Aptos"/>
              </a:defRPr>
            </a:pPr>
            <a:r>
              <a:t>The trend is still relatively low compared with many countries.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Norway has lower inequality than the United States.</a:t>
            </a:r>
          </a:p>
          <a:p>
            <a:pPr>
              <a:defRPr sz="2200">
                <a:latin typeface="Aptos"/>
              </a:defRPr>
            </a:pPr>
            <a:r>
              <a:t>The Philippines shows a stronger poverty challenge.</a:t>
            </a:r>
          </a:p>
          <a:p>
            <a:pPr>
              <a:defRPr sz="2200">
                <a:latin typeface="Aptos"/>
              </a:defRPr>
            </a:pPr>
            <a:r>
              <a:t>This creates a useful contrast between welfare contexts.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Public services reduce measured inequality in Norway.</a:t>
            </a:r>
          </a:p>
          <a:p>
            <a:pPr>
              <a:defRPr sz="2200">
                <a:latin typeface="Aptos"/>
              </a:defRPr>
            </a:pPr>
            <a:r>
              <a:t>Including public services changes the interpretation of welfare.</a:t>
            </a:r>
          </a:p>
          <a:p>
            <a:pPr>
              <a:defRPr sz="2200">
                <a:latin typeface="Aptos"/>
              </a:defRPr>
            </a:pPr>
            <a:r>
              <a:t>This is important when comparing countries.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 vs EU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The two scales adjust household income differently.</a:t>
            </a:r>
          </a:p>
          <a:p>
            <a:pPr>
              <a:defRPr sz="2200">
                <a:latin typeface="Aptos"/>
              </a:defRPr>
            </a:pPr>
            <a:r>
              <a:t>EU scale gives more weight to household composition.</a:t>
            </a:r>
          </a:p>
          <a:p>
            <a:pPr>
              <a:defRPr sz="2200">
                <a:latin typeface="Aptos"/>
              </a:defRPr>
            </a:pPr>
            <a:r>
              <a:t>Choice of scale can affect the result significantly.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Norway has relatively low inequality, but the trend is rising.</a:t>
            </a:r>
          </a:p>
          <a:p>
            <a:pPr>
              <a:defRPr sz="2200">
                <a:latin typeface="Aptos"/>
              </a:defRPr>
            </a:pPr>
            <a:r>
              <a:t>The U.S. has higher inequality than Norway.</a:t>
            </a:r>
          </a:p>
          <a:p>
            <a:pPr>
              <a:defRPr sz="2200">
                <a:latin typeface="Aptos"/>
              </a:defRPr>
            </a:pPr>
            <a:r>
              <a:t>The Philippines has a stronger poverty problem.</a:t>
            </a:r>
          </a:p>
          <a:p>
            <a:pPr>
              <a:defRPr sz="2200">
                <a:latin typeface="Aptos"/>
              </a:defRPr>
            </a:pPr>
            <a:r>
              <a:t>Method choices matter.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This slide is reserved for your dashboard screenshot.</a:t>
            </a:r>
          </a:p>
          <a:p>
            <a:pPr>
              <a:defRPr sz="2200">
                <a:latin typeface="Aptos"/>
              </a:defRPr>
            </a:pPr>
            <a:r>
              <a:t>Add one or more charts here to show the final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latin typeface="Aptos"/>
              </a:defRPr>
            </a:pPr>
            <a:r>
              <a:t>The project shows that inequality and poverty are shaped by both income and public systems.</a:t>
            </a:r>
          </a:p>
          <a:p>
            <a:pPr>
              <a:defRPr sz="2200">
                <a:latin typeface="Aptos"/>
              </a:defRPr>
            </a:pPr>
            <a:r>
              <a:t>Next: finalize the dashboard and add interactivity.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